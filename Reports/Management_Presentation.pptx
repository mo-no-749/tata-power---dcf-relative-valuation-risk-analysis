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NOJIT SAMANTA" userId="c6a1b9be0e9f5584" providerId="LiveId" clId="{630F4618-FCEF-4AE5-B5B1-D0D9B2595B7F}"/>
    <pc:docChg chg="custSel modSld">
      <pc:chgData name="MONOJIT SAMANTA" userId="c6a1b9be0e9f5584" providerId="LiveId" clId="{630F4618-FCEF-4AE5-B5B1-D0D9B2595B7F}" dt="2026-08-09T15:55:53.011" v="5" actId="14100"/>
      <pc:docMkLst>
        <pc:docMk/>
      </pc:docMkLst>
      <pc:sldChg chg="addSp delSp modSp mod">
        <pc:chgData name="MONOJIT SAMANTA" userId="c6a1b9be0e9f5584" providerId="LiveId" clId="{630F4618-FCEF-4AE5-B5B1-D0D9B2595B7F}" dt="2026-08-09T15:55:53.011" v="5" actId="14100"/>
        <pc:sldMkLst>
          <pc:docMk/>
          <pc:sldMk cId="0" sldId="259"/>
        </pc:sldMkLst>
        <pc:picChg chg="del">
          <ac:chgData name="MONOJIT SAMANTA" userId="c6a1b9be0e9f5584" providerId="LiveId" clId="{630F4618-FCEF-4AE5-B5B1-D0D9B2595B7F}" dt="2026-08-09T15:55:42.137" v="1" actId="478"/>
          <ac:picMkLst>
            <pc:docMk/>
            <pc:sldMk cId="0" sldId="259"/>
            <ac:picMk id="3" creationId="{00000000-0000-0000-0000-000000000000}"/>
          </ac:picMkLst>
        </pc:picChg>
        <pc:picChg chg="add mod">
          <ac:chgData name="MONOJIT SAMANTA" userId="c6a1b9be0e9f5584" providerId="LiveId" clId="{630F4618-FCEF-4AE5-B5B1-D0D9B2595B7F}" dt="2026-08-09T15:55:53.011" v="5" actId="14100"/>
          <ac:picMkLst>
            <pc:docMk/>
            <pc:sldMk cId="0" sldId="259"/>
            <ac:picMk id="19" creationId="{F46BA5E9-F668-BD4C-1296-EDC113AB79BE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02617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Opening framing: this deck walks through a full equity research and credit risk workup on Tata Power, built to demonstrate methodology end-to-end. Emphasize upfront that this is a portfolio/educational exercise, not a live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questions frame the whole deck. Use this slide to set expectations that we're triangulating across multiple independent methods rather than leaning on one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gauge previews the credit scorecard finding developed fully on Slide 11. Revenue-by-segment and capacity mix aren't in the underlying data model, so they're honestly omitted rather than estimated.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PAT CAGR outrunning Revenue CAGR is the headline: margin recovery post the FY22-23 fuel-cost squeeze, not just volume growth. EPS growth has been steadier than PAT alone thanks to a fixed share 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Assets and Liabilities &amp; Equity always balance by construction (both total ₹1,74,564 Cr in FY26) — the two charts are mirror images of the same balance sheet. Net Block has grown steadily (renewable asset additions); CWIP jumped sharply from FY24 as more projects entered construction simultaneously. FY26 net debt spike is capex-funded — same story as Slide 6's leverage dip.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Six-panel dashboard: profitability (ROE, ROIC), coverage (Interest Coverage), balance-sheet health (Current Ratio, Net Debt/EBITDA, Debt/Cap). The FY26 dip across nearly every panel traces to the debt raise funding renewable capex (Slide 5, 7-8).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CapEx trend (proxy: change in gross block + CWIP) shows the accelerating renewable buildout directly. FCFF grows ~4.5x from Current Year to Year 5 as reinvestment eases. This model doesn't build a separate Revenue/EBITDA-in-rupees forecast — growth flows through EBIT/NOPAT via the ROIC-reinvestment link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named drivers for the gap: (1) reinvestment rate suppresses near-term FCFF, (2) consolidated model excludes TPREL's standalone growth-option value. The sensitivity heatmap preempts 'did you just pick unfavorable assumptions' — even the best-case cell undershoots market price.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EV/EBITDA of 10.55x sits between mature peers (~10-11x) and richly-valued renewable pure-plays (excluded here as earnings-quality outliers). Football field: market price clears every DCF scenario but sits inside the peer range.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IMPORTANT CAVEAT: the Monte Carlo distribution is an illustrative simulation built from the workbook's portfolio variance/covariance figures, not a re-run of the original path-level simulation. Directionally consistent with the workbook's reported Monte Carlo VaR. Beta is highly statistically significant (p&lt;0.001, t-stat 7.60).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project's central finding. Scorecard: 38/100 'High Risk' in FY26, 'High Risk' in 7 of 10 years overall, while actual CRISIL rating rose from AA- to AA+ with zero downgrades over the same period.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Five findings, roughly in descending order of materiality. Findings 1 and 2 matter most for a CFO audience.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Deliberately no Buy/Hold/Sell stamp. The 'Bottom Line' box is the closing message: every model here runs conservative relative to market/agency views, and each gap has a named, specific explanation.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228600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TATA POWER LTD.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0" y="320040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Management Presentation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371600" y="3886200"/>
            <a:ext cx="94457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7CE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Research, Valuation &amp; Credit Risk Analysis — FY2017 to FY2026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0" y="46634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AA5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Executive Review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0" y="6263640"/>
            <a:ext cx="1218895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7A85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Portfolio Project — Not Investment Advice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 — What Questions Are We Answering?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37160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737360" y="1481328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Tata Power actually worth?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737360" y="1920240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value via DCF, cross-checked against peer trading multiples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69748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69748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737360" y="2807208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the company's leverage a credit concern?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737360" y="3246120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utility-specific credit scorecard, benchmarked against the actual CRISIL rating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02336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402336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737360" y="4133088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downside risk does the position carry?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737360" y="4572000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Value-at-Risk across three independent methodologies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5349240"/>
            <a:ext cx="11091672" cy="1143000"/>
          </a:xfrm>
          <a:prstGeom prst="roundRect">
            <a:avLst>
              <a:gd name="adj" fmla="val 56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5349240"/>
            <a:ext cx="9144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1737360" y="5458968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does the market price sit relative to every method?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737360" y="5897880"/>
            <a:ext cx="97200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football field synthesis spanning DCF, peers, and 52-week range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Overview — India's Largest Integrated Power Utility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Generation, transmission, and distribution across India, Georgia, and Zambia. First Indian company to ship over 1 GW of solar modules (Feb 2017).</a:t>
            </a:r>
            <a:endParaRPr lang="en-US" sz="1150" dirty="0"/>
          </a:p>
        </p:txBody>
      </p:sp>
      <p:sp>
        <p:nvSpPr>
          <p:cNvPr id="5" name="Text 3"/>
          <p:cNvSpPr/>
          <p:nvPr/>
        </p:nvSpPr>
        <p:spPr>
          <a:xfrm>
            <a:off x="548640" y="25603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Regulated Generation  •  Transmission &amp; Distribution  •  Renewable Energy (TPREL)  •  International Assets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48640" y="38862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Position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420624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largest integrated private power utility. CRISIL AA+/Stable and ICRA AA+/Stable, upgraded steadily from AA- (FY17) with zero downgrades.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434840" y="1234440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3441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14,700+ MW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07992" y="1801368"/>
            <a:ext cx="2871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Installed Capacity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434840" y="2313432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34840" y="242316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70%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507992" y="2880360"/>
            <a:ext cx="2871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Energy Target by 2030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4840" y="3392424"/>
            <a:ext cx="3017520" cy="914400"/>
          </a:xfrm>
          <a:prstGeom prst="roundRect">
            <a:avLst>
              <a:gd name="adj" fmla="val 6000"/>
            </a:avLst>
          </a:prstGeom>
          <a:solidFill>
            <a:srgbClr val="1E2761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434840" y="350215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46.9%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07992" y="3959352"/>
            <a:ext cx="287121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Promoter Holding (Tata Sons)</a:t>
            </a:r>
            <a:endParaRPr lang="en-US" sz="900" dirty="0"/>
          </a:p>
        </p:txBody>
      </p:sp>
      <p:pic>
        <p:nvPicPr>
          <p:cNvPr id="18" name="Image 0" descr="/home/claude/charts/credit_gau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800" y="731520"/>
            <a:ext cx="5613400" cy="384048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548640" y="53492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Revenue-by-segment and installed-capacity-by-fuel-type breakdowns are not available in the underlying data model and are not shown here rather than estimated.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Historical Performance — Revenue, EBITDA, PAT &amp; EPS</a:t>
            </a:r>
            <a:endParaRPr lang="en-US" sz="2500" dirty="0"/>
          </a:p>
        </p:txBody>
      </p:sp>
      <p:pic>
        <p:nvPicPr>
          <p:cNvPr id="4" name="Image 1" descr="/home/claude/charts/margin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903381"/>
            <a:ext cx="5650992" cy="2832857"/>
          </a:xfrm>
          <a:prstGeom prst="rect">
            <a:avLst/>
          </a:prstGeom>
        </p:spPr>
      </p:pic>
      <p:pic>
        <p:nvPicPr>
          <p:cNvPr id="5" name="Image 2" descr="/home/claude/charts/eps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3977640"/>
            <a:ext cx="2697480" cy="1417320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246120" y="397764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3246120" y="4147718"/>
            <a:ext cx="27432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9.5%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3319272" y="4856378"/>
            <a:ext cx="2596896" cy="496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CAGR (FY17-26)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6172200" y="3977640"/>
            <a:ext cx="2743200" cy="1417320"/>
          </a:xfrm>
          <a:prstGeom prst="roundRect">
            <a:avLst>
              <a:gd name="adj" fmla="val 3871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6172200" y="4147718"/>
            <a:ext cx="274320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9.4%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245352" y="4856378"/>
            <a:ext cx="2596896" cy="496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CAGR (FY17-26)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9098280" y="3977640"/>
            <a:ext cx="2651760" cy="1417320"/>
          </a:xfrm>
          <a:prstGeom prst="roundRect">
            <a:avLst>
              <a:gd name="adj" fmla="val 3871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9098280" y="4147718"/>
            <a:ext cx="2651760" cy="7086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18.6%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9171432" y="4856378"/>
            <a:ext cx="2505456" cy="49606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CAGR (FY17-26)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731520" y="55778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 has grown faster than revenue (18.6% vs 9.5% CAGR) — margin recovery, not just top-line growth, is driving profitability.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8" name="Text 1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pic>
        <p:nvPicPr>
          <p:cNvPr id="19" name="Image 0">
            <a:extLst>
              <a:ext uri="{FF2B5EF4-FFF2-40B4-BE49-F238E27FC236}">
                <a16:creationId xmlns:a16="http://schemas.microsoft.com/office/drawing/2014/main" id="{F46BA5E9-F668-BD4C-1296-EDC113AB79B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99" y="903381"/>
            <a:ext cx="5562601" cy="276726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Balance Sheet — Assets vs. Liabilities &amp; Capital Structure</a:t>
            </a:r>
            <a:endParaRPr lang="en-US" sz="2200" dirty="0"/>
          </a:p>
        </p:txBody>
      </p:sp>
      <p:pic>
        <p:nvPicPr>
          <p:cNvPr id="3" name="Image 0" descr="/home/claude/charts/asset_compo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960120"/>
            <a:ext cx="5811756" cy="3019123"/>
          </a:xfrm>
          <a:prstGeom prst="rect">
            <a:avLst/>
          </a:prstGeom>
        </p:spPr>
      </p:pic>
      <p:pic>
        <p:nvPicPr>
          <p:cNvPr id="4" name="Image 1" descr="/home/claude/charts/capital_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7516" y="960120"/>
            <a:ext cx="5618244" cy="3019123"/>
          </a:xfrm>
          <a:prstGeom prst="rect">
            <a:avLst/>
          </a:prstGeom>
        </p:spPr>
      </p:pic>
      <p:pic>
        <p:nvPicPr>
          <p:cNvPr id="5" name="Image 2" descr="/home/claude/charts/net_debt_tre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" y="4114800"/>
            <a:ext cx="3090672" cy="1643974"/>
          </a:xfrm>
          <a:prstGeom prst="rect">
            <a:avLst/>
          </a:prstGeom>
        </p:spPr>
      </p:pic>
      <p:sp>
        <p:nvSpPr>
          <p:cNvPr id="6" name="Shape 1"/>
          <p:cNvSpPr/>
          <p:nvPr/>
        </p:nvSpPr>
        <p:spPr>
          <a:xfrm>
            <a:off x="3657600" y="4114800"/>
            <a:ext cx="3977640" cy="1645920"/>
          </a:xfrm>
          <a:prstGeom prst="roundRect">
            <a:avLst>
              <a:gd name="adj" fmla="val 3333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7" name="Text 2"/>
          <p:cNvSpPr/>
          <p:nvPr/>
        </p:nvSpPr>
        <p:spPr>
          <a:xfrm>
            <a:off x="3657600" y="431231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₹62,497 Cr</a:t>
            </a:r>
            <a:endParaRPr lang="en-US" sz="1800" dirty="0"/>
          </a:p>
        </p:txBody>
      </p:sp>
      <p:sp>
        <p:nvSpPr>
          <p:cNvPr id="8" name="Text 3"/>
          <p:cNvSpPr/>
          <p:nvPr/>
        </p:nvSpPr>
        <p:spPr>
          <a:xfrm>
            <a:off x="3730752" y="5135270"/>
            <a:ext cx="383133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(FY26)</a:t>
            </a:r>
            <a:endParaRPr lang="en-US" sz="900" dirty="0"/>
          </a:p>
        </p:txBody>
      </p:sp>
      <p:sp>
        <p:nvSpPr>
          <p:cNvPr id="9" name="Shape 4"/>
          <p:cNvSpPr/>
          <p:nvPr/>
        </p:nvSpPr>
        <p:spPr>
          <a:xfrm>
            <a:off x="7818120" y="4114800"/>
            <a:ext cx="3977640" cy="1645920"/>
          </a:xfrm>
          <a:prstGeom prst="roundRect">
            <a:avLst>
              <a:gd name="adj" fmla="val 3333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7818120" y="4312310"/>
            <a:ext cx="39776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₹1,74,564 Cr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891272" y="5135270"/>
            <a:ext cx="3831336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Capitalization (FY26)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548640" y="5852160"/>
            <a:ext cx="11247120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897880"/>
            <a:ext cx="110002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assets grew 2.1x over the decade (₹82,829 Cr → ₹1,74,564 Cr), funded increasingly by debt — net debt has more than doubled since FY21.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Financial Health — Ratio Dashboard</a:t>
            </a:r>
            <a:endParaRPr lang="en-US" sz="2500" dirty="0"/>
          </a:p>
        </p:txBody>
      </p:sp>
      <p:pic>
        <p:nvPicPr>
          <p:cNvPr id="3" name="Image 0" descr="/home/claude/charts/ratio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829340"/>
            <a:ext cx="11091672" cy="4902674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548640" y="5777734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731520" y="5823454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ROIC nearly doubled from FY17 (5.9%) to FY25 (11.3%) before pulling back to 7.9% in FY26 as fresh renewable capex diluted near-term returns.</a:t>
            </a:r>
            <a:endParaRPr lang="en-US" sz="1150" dirty="0"/>
          </a:p>
        </p:txBody>
      </p:sp>
      <p:sp>
        <p:nvSpPr>
          <p:cNvPr id="6" name="Text 3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 — Free Cash Flow &amp; Capital Expenditure</a:t>
            </a:r>
            <a:endParaRPr lang="en-US" sz="2500" dirty="0"/>
          </a:p>
        </p:txBody>
      </p:sp>
      <p:pic>
        <p:nvPicPr>
          <p:cNvPr id="3" name="Image 0" descr="/home/claude/charts/fcff_forec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486400" cy="3280555"/>
          </a:xfrm>
          <a:prstGeom prst="rect">
            <a:avLst/>
          </a:prstGeom>
        </p:spPr>
      </p:pic>
      <p:pic>
        <p:nvPicPr>
          <p:cNvPr id="4" name="Image 1" descr="/home/claude/charts/capex_tre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2160" y="1005840"/>
            <a:ext cx="5943600" cy="3280554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4343400"/>
            <a:ext cx="11430000" cy="960120"/>
          </a:xfrm>
          <a:prstGeom prst="roundRect">
            <a:avLst>
              <a:gd name="adj" fmla="val 6667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594360" y="4343400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 is driven by g = ROIC × Reinvestment Rate — not a separate top-line assumption. Reinvestment rate declines from 84% → 56% of NOPAT across the forecast as the capex cycle matures. Terminal growth is capped at 4.5%, below the 6.8% risk-free rate.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548640" y="548640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55321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Near-term FCFF is deliberately suppressed by heavy reinvestment — this is the single largest driver of the DCF's discount to market price (Slide 8).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DCF Valuation — Intrinsic Value vs. Market Price</a:t>
            </a:r>
            <a:endParaRPr lang="en-US" sz="2300" dirty="0"/>
          </a:p>
        </p:txBody>
      </p:sp>
      <p:pic>
        <p:nvPicPr>
          <p:cNvPr id="3" name="Image 0" descr="/home/claude/charts/dcf_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5577840" cy="3482260"/>
          </a:xfrm>
          <a:prstGeom prst="rect">
            <a:avLst/>
          </a:prstGeom>
        </p:spPr>
      </p:pic>
      <p:pic>
        <p:nvPicPr>
          <p:cNvPr id="4" name="Image 1" descr="/home/claude/charts/sensitivity_heatm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1005840"/>
            <a:ext cx="5577840" cy="3553439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55127" y="4687896"/>
            <a:ext cx="2212848" cy="868680"/>
          </a:xfrm>
          <a:prstGeom prst="roundRect">
            <a:avLst>
              <a:gd name="adj" fmla="val 6316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55127" y="4792138"/>
            <a:ext cx="22128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₹52,047 Cr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428279" y="5226478"/>
            <a:ext cx="2066544" cy="30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(EV) Value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2659415" y="4687896"/>
            <a:ext cx="2212848" cy="868680"/>
          </a:xfrm>
          <a:prstGeom prst="roundRect">
            <a:avLst>
              <a:gd name="adj" fmla="val 6316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659415" y="4792138"/>
            <a:ext cx="22128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₹6,125 Cr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2732567" y="5226478"/>
            <a:ext cx="2066544" cy="30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Value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4963703" y="4687896"/>
            <a:ext cx="2212848" cy="868680"/>
          </a:xfrm>
          <a:prstGeom prst="roundRect">
            <a:avLst>
              <a:gd name="adj" fmla="val 6316"/>
            </a:avLst>
          </a:prstGeom>
          <a:solidFill>
            <a:srgbClr val="C9A227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963703" y="4792138"/>
            <a:ext cx="22128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₹19.17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036855" y="5226478"/>
            <a:ext cx="2066544" cy="30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3A2F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Intrinsic Value/Share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7267991" y="4687896"/>
            <a:ext cx="2212848" cy="868680"/>
          </a:xfrm>
          <a:prstGeom prst="roundRect">
            <a:avLst>
              <a:gd name="adj" fmla="val 6316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7267991" y="4792138"/>
            <a:ext cx="22128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₹402.35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7341143" y="5226478"/>
            <a:ext cx="2066544" cy="30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Price/Share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9572279" y="4687896"/>
            <a:ext cx="2212848" cy="868680"/>
          </a:xfrm>
          <a:prstGeom prst="roundRect">
            <a:avLst>
              <a:gd name="adj" fmla="val 6316"/>
            </a:avLst>
          </a:prstGeom>
          <a:solidFill>
            <a:srgbClr val="A32638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9572279" y="4792138"/>
            <a:ext cx="2212848" cy="4343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-95.2%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9645431" y="5226478"/>
            <a:ext cx="2066544" cy="3040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4D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to Market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65761" y="5710741"/>
            <a:ext cx="11419366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1520" y="5756461"/>
            <a:ext cx="10865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 the most favorable sensitivity case (WACC 8.55%, growth 6.5%) yields ₹332 — still below market price. The gap is structural, not a base-case artifact.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Relative Valuation — Peer Comparison &amp; Football Field</a:t>
            </a:r>
            <a:endParaRPr lang="en-US" sz="2300" dirty="0"/>
          </a:p>
        </p:txBody>
      </p:sp>
      <p:pic>
        <p:nvPicPr>
          <p:cNvPr id="3" name="Image 0" descr="/home/claude/charts/peer_multiples_combin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51560"/>
            <a:ext cx="5257800" cy="3202071"/>
          </a:xfrm>
          <a:prstGeom prst="rect">
            <a:avLst/>
          </a:prstGeom>
        </p:spPr>
      </p:pic>
      <p:pic>
        <p:nvPicPr>
          <p:cNvPr id="4" name="Image 1" descr="/home/claude/charts/football_fiel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7880" y="1051560"/>
            <a:ext cx="5943600" cy="425196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452628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Power: 10.55x EV/EBITDA, 25.12x P/E</a:t>
            </a:r>
            <a:endParaRPr lang="en-US" sz="1200" dirty="0"/>
          </a:p>
        </p:txBody>
      </p:sp>
      <p:sp>
        <p:nvSpPr>
          <p:cNvPr id="6" name="Text 2"/>
          <p:cNvSpPr/>
          <p:nvPr/>
        </p:nvSpPr>
        <p:spPr>
          <a:xfrm>
            <a:off x="548640" y="4846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line with mature integrated peers (NTPC, Power Grid ~10-11x EV/EBITDA)</a:t>
            </a:r>
            <a:endParaRPr lang="en-US" sz="1050" dirty="0"/>
          </a:p>
        </p:txBody>
      </p:sp>
      <p:sp>
        <p:nvSpPr>
          <p:cNvPr id="7" name="Shape 3"/>
          <p:cNvSpPr/>
          <p:nvPr/>
        </p:nvSpPr>
        <p:spPr>
          <a:xfrm>
            <a:off x="548640" y="55321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55778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price sits within the peer-implied range but above every DCF scenario — the market may be pricing in growth optionality this model doesn't capture.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 I — Market Risk (VaR, Beta &amp; Monte Carlo)</a:t>
            </a:r>
            <a:endParaRPr lang="en-US" sz="2200" dirty="0"/>
          </a:p>
        </p:txBody>
      </p:sp>
      <p:pic>
        <p:nvPicPr>
          <p:cNvPr id="3" name="Image 0" descr="/home/claude/charts/var_compari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59" y="1005840"/>
            <a:ext cx="4833561" cy="3017520"/>
          </a:xfrm>
          <a:prstGeom prst="rect">
            <a:avLst/>
          </a:prstGeom>
        </p:spPr>
      </p:pic>
      <p:pic>
        <p:nvPicPr>
          <p:cNvPr id="4" name="Image 1" descr="/home/claude/charts/monte_carlo_d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88419" y="1030529"/>
            <a:ext cx="5951893" cy="301752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365760" y="425196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365760" y="4345229"/>
            <a:ext cx="26517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1.26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438912" y="4733849"/>
            <a:ext cx="2505456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Beta (2yr Weekly Regression)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200400" y="425196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200400" y="4345229"/>
            <a:ext cx="26517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0.361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3273552" y="4733849"/>
            <a:ext cx="2505456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(Regression Fit)</a:t>
            </a:r>
            <a:endParaRPr lang="en-US" sz="900" dirty="0"/>
          </a:p>
        </p:txBody>
      </p:sp>
      <p:sp>
        <p:nvSpPr>
          <p:cNvPr id="11" name="Shape 7"/>
          <p:cNvSpPr/>
          <p:nvPr/>
        </p:nvSpPr>
        <p:spPr>
          <a:xfrm>
            <a:off x="6035040" y="425196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035040" y="4345229"/>
            <a:ext cx="26517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15.52%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6108192" y="4733849"/>
            <a:ext cx="2505456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of Equity (CAPM)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8869680" y="4251960"/>
            <a:ext cx="2651760" cy="777240"/>
          </a:xfrm>
          <a:prstGeom prst="roundRect">
            <a:avLst>
              <a:gd name="adj" fmla="val 7059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8869680" y="4345229"/>
            <a:ext cx="2651760" cy="3886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11.78%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8942832" y="4733849"/>
            <a:ext cx="2505456" cy="27203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365760" y="5257800"/>
            <a:ext cx="11155680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731520" y="530352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VaR methods (Historical, Parametric, Monte Carlo) converge on a consistent downside-risk range — cross-validation, not reliance on one model.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20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 Analysis II — Credit Risk (Utility Scorecard &amp; Altman Z)</a:t>
            </a:r>
            <a:endParaRPr lang="en-US" sz="2100" dirty="0"/>
          </a:p>
        </p:txBody>
      </p:sp>
      <p:pic>
        <p:nvPicPr>
          <p:cNvPr id="3" name="Image 0" descr="/home/claude/charts/credit_scorecard_tren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1005840"/>
            <a:ext cx="6949440" cy="3817325"/>
          </a:xfrm>
          <a:prstGeom prst="rect">
            <a:avLst/>
          </a:prstGeom>
        </p:spPr>
      </p:pic>
      <p:pic>
        <p:nvPicPr>
          <p:cNvPr id="4" name="Image 1" descr="/home/claude/charts/credit_gau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5591" y="1005840"/>
            <a:ext cx="5103628" cy="3200400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7452360" y="3794760"/>
            <a:ext cx="4343400" cy="1051560"/>
          </a:xfrm>
          <a:prstGeom prst="roundRect">
            <a:avLst>
              <a:gd name="adj" fmla="val 5217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7607808" y="3858768"/>
            <a:ext cx="4023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8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Altman Z-Score (FY26): 1.55 — “Distress” zone. A known model-fit issue for capital-intensive regulated utilities, not a genuine credit signal.</a:t>
            </a:r>
            <a:endParaRPr lang="en-US" sz="980" dirty="0"/>
          </a:p>
        </p:txBody>
      </p:sp>
      <p:sp>
        <p:nvSpPr>
          <p:cNvPr id="7" name="Shape 3"/>
          <p:cNvSpPr/>
          <p:nvPr/>
        </p:nvSpPr>
        <p:spPr>
          <a:xfrm>
            <a:off x="548640" y="5074920"/>
            <a:ext cx="11091672" cy="548640"/>
          </a:xfrm>
          <a:prstGeom prst="roundRect">
            <a:avLst>
              <a:gd name="adj" fmla="val 10000"/>
            </a:avLst>
          </a:prstGeom>
          <a:solidFill>
            <a:srgbClr val="F7F8FA"/>
          </a:solidFill>
          <a:ln w="12700">
            <a:solidFill>
              <a:srgbClr val="E2E5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731520" y="5120640"/>
            <a:ext cx="107259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Insight:  </a:t>
            </a:r>
            <a:r>
              <a:rPr lang="en-US" sz="11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quantitative models flag risk the actual AA+ rating doesn't show — both exclude qualitative factors (regulatory strength, Tata Group support) the models can't easily score.</a:t>
            </a:r>
            <a:endParaRPr lang="en-US" sz="11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Findings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2801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234440" y="1261872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 intrinsic value (₹19.17/share) sits ~95% below market price (₹402.35), driven primarily by an aggressive reinvestment-rate assumption and the exclusion of TPREL's standalone growth-option value from this consolidated model.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2221992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22199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234440" y="2203704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custom Utility Credit Quality Scorecard classifies Tata Power as “High Risk” in 7 of 10 years, while the actual CRISIL rating rose steadily from AA- to AA+ with zero downgrades — a finding about model scope, not a contradiction.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48640" y="3163824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1638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3145536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 relative valuation (EV/EBITDA 10.55x) places Tata Power in line with mature integrated utilities, well below early-stage renewable pure-plays whose multiples reflect near-zero current earnings.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4105656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410565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34440" y="408736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independent VaR methodologies (Historical, Parametric, Monte Carlo) converge on a consistent downside-risk range for the portfolio position, cross-validating rather than relying on a single model.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" y="5047488"/>
            <a:ext cx="502920" cy="502920"/>
          </a:xfrm>
          <a:prstGeom prst="roundRect">
            <a:avLst>
              <a:gd name="adj" fmla="val 12727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50474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234440" y="502920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Altman Z-Score misclassifies Tata Power as financially distressed in most years — a known model-fit issue for capital-intensive regulated utilities, not a genuine credit signal.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109167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View, Key Risks &amp; Future Outlook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analysis intentionally stops short of a Buy/Hold/Sell call. The DCF and market/peer valuations diverge too sharply (₹19 vs. ₹402) to responsibly compress into a single recommendation without the sum-of-the-parts work needed to reconcile them.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434840" y="114300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Risks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434840" y="146304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risk on the renewable capex buildout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Rising leverage (Net Debt/EBITDA 3.98x → 5.15x in FY26)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Regulatory/tariff recovery lag in distribution business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DCF-market valuation gap remains unreconciled without SOTP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321040" y="1143000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Outlook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321040" y="1463040"/>
            <a:ext cx="333756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Sum-of-the-parts valuation to separately value TPREL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FY27 leverage — is the FY26 spike temporary?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next CRISIL/ICRA rating action for capex-funded-leverage read-through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48640" y="3429000"/>
            <a:ext cx="11091672" cy="2560320"/>
          </a:xfrm>
          <a:prstGeom prst="roundRect">
            <a:avLst>
              <a:gd name="adj" fmla="val 2857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61188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402336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holds a genuinely strong, improving credit profile (CRISIL AA+, zero downgrades in 10 years) executing a capital-intensive but strategically coherent renewable transition. Every quantitative model built here — DCF, Altman Z, the custom credit scorecard — runs more conservative than what the market and rating agencies conclude, and in each case a specific, named reason for the gap has been identified.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Educational portfolio project — not investment advice.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Tata Power Ltd. — Management Presentation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1823</Words>
  <Application>Microsoft Office PowerPoint</Application>
  <PresentationFormat>Widescreen</PresentationFormat>
  <Paragraphs>156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MONOJIT SAMANTA</cp:lastModifiedBy>
  <cp:revision>2</cp:revision>
  <dcterms:created xsi:type="dcterms:W3CDTF">2026-07-23T21:10:11Z</dcterms:created>
  <dcterms:modified xsi:type="dcterms:W3CDTF">2026-08-09T15:55:55Z</dcterms:modified>
</cp:coreProperties>
</file>