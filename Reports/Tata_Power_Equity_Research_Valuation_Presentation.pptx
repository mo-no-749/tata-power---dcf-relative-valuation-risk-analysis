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22" d="100"/>
          <a:sy n="122" d="100"/>
        </p:scale>
        <p:origin x="114" y="2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ONOJIT SAMANTA" userId="c6a1b9be0e9f5584" providerId="LiveId" clId="{630F4618-FCEF-4AE5-B5B1-D0D9B2595B7F}"/>
    <pc:docChg chg="custSel modSld">
      <pc:chgData name="MONOJIT SAMANTA" userId="c6a1b9be0e9f5584" providerId="LiveId" clId="{630F4618-FCEF-4AE5-B5B1-D0D9B2595B7F}" dt="2026-08-15T22:54:56.968" v="50" actId="14100"/>
      <pc:docMkLst>
        <pc:docMk/>
      </pc:docMkLst>
      <pc:sldChg chg="addSp delSp modSp mod">
        <pc:chgData name="MONOJIT SAMANTA" userId="c6a1b9be0e9f5584" providerId="LiveId" clId="{630F4618-FCEF-4AE5-B5B1-D0D9B2595B7F}" dt="2026-08-09T15:55:53.011" v="5" actId="14100"/>
        <pc:sldMkLst>
          <pc:docMk/>
          <pc:sldMk cId="0" sldId="259"/>
        </pc:sldMkLst>
        <pc:picChg chg="add mod">
          <ac:chgData name="MONOJIT SAMANTA" userId="c6a1b9be0e9f5584" providerId="LiveId" clId="{630F4618-FCEF-4AE5-B5B1-D0D9B2595B7F}" dt="2026-08-09T15:55:53.011" v="5" actId="14100"/>
          <ac:picMkLst>
            <pc:docMk/>
            <pc:sldMk cId="0" sldId="259"/>
            <ac:picMk id="19" creationId="{F46BA5E9-F668-BD4C-1296-EDC113AB79BE}"/>
          </ac:picMkLst>
        </pc:picChg>
      </pc:sldChg>
      <pc:sldChg chg="addSp delSp modSp mod">
        <pc:chgData name="MONOJIT SAMANTA" userId="c6a1b9be0e9f5584" providerId="LiveId" clId="{630F4618-FCEF-4AE5-B5B1-D0D9B2595B7F}" dt="2026-08-14T20:16:58.877" v="22" actId="14100"/>
        <pc:sldMkLst>
          <pc:docMk/>
          <pc:sldMk cId="0" sldId="261"/>
        </pc:sldMkLst>
        <pc:picChg chg="del">
          <ac:chgData name="MONOJIT SAMANTA" userId="c6a1b9be0e9f5584" providerId="LiveId" clId="{630F4618-FCEF-4AE5-B5B1-D0D9B2595B7F}" dt="2026-08-14T20:16:30.969" v="15" actId="478"/>
          <ac:picMkLst>
            <pc:docMk/>
            <pc:sldMk cId="0" sldId="261"/>
            <ac:picMk id="3" creationId="{00000000-0000-0000-0000-000000000000}"/>
          </ac:picMkLst>
        </pc:picChg>
        <pc:picChg chg="add mod modCrop">
          <ac:chgData name="MONOJIT SAMANTA" userId="c6a1b9be0e9f5584" providerId="LiveId" clId="{630F4618-FCEF-4AE5-B5B1-D0D9B2595B7F}" dt="2026-08-14T20:16:58.877" v="22" actId="14100"/>
          <ac:picMkLst>
            <pc:docMk/>
            <pc:sldMk cId="0" sldId="261"/>
            <ac:picMk id="9" creationId="{E1F9677D-C256-59D1-EBE6-C1801E27055C}"/>
          </ac:picMkLst>
        </pc:picChg>
      </pc:sldChg>
      <pc:sldChg chg="addSp delSp modSp mod">
        <pc:chgData name="MONOJIT SAMANTA" userId="c6a1b9be0e9f5584" providerId="LiveId" clId="{630F4618-FCEF-4AE5-B5B1-D0D9B2595B7F}" dt="2026-08-15T22:54:56.968" v="50" actId="14100"/>
        <pc:sldMkLst>
          <pc:docMk/>
          <pc:sldMk cId="0" sldId="262"/>
        </pc:sldMkLst>
        <pc:spChg chg="mod">
          <ac:chgData name="MONOJIT SAMANTA" userId="c6a1b9be0e9f5584" providerId="LiveId" clId="{630F4618-FCEF-4AE5-B5B1-D0D9B2595B7F}" dt="2026-08-15T22:54:46.716" v="49" actId="14100"/>
          <ac:spMkLst>
            <pc:docMk/>
            <pc:sldMk cId="0" sldId="262"/>
            <ac:spMk id="7" creationId="{00000000-0000-0000-0000-000000000000}"/>
          </ac:spMkLst>
        </pc:spChg>
        <pc:picChg chg="del">
          <ac:chgData name="MONOJIT SAMANTA" userId="c6a1b9be0e9f5584" providerId="LiveId" clId="{630F4618-FCEF-4AE5-B5B1-D0D9B2595B7F}" dt="2026-08-15T22:52:08.079" v="23" actId="478"/>
          <ac:picMkLst>
            <pc:docMk/>
            <pc:sldMk cId="0" sldId="262"/>
            <ac:picMk id="4" creationId="{00000000-0000-0000-0000-000000000000}"/>
          </ac:picMkLst>
        </pc:picChg>
        <pc:picChg chg="add mod">
          <ac:chgData name="MONOJIT SAMANTA" userId="c6a1b9be0e9f5584" providerId="LiveId" clId="{630F4618-FCEF-4AE5-B5B1-D0D9B2595B7F}" dt="2026-08-15T22:54:56.968" v="50" actId="14100"/>
          <ac:picMkLst>
            <pc:docMk/>
            <pc:sldMk cId="0" sldId="262"/>
            <ac:picMk id="12" creationId="{F3327F9C-751A-AF4F-87B8-6681EFA8DEF3}"/>
          </ac:picMkLst>
        </pc:picChg>
      </pc:sldChg>
      <pc:sldChg chg="addSp delSp modSp mod">
        <pc:chgData name="MONOJIT SAMANTA" userId="c6a1b9be0e9f5584" providerId="LiveId" clId="{630F4618-FCEF-4AE5-B5B1-D0D9B2595B7F}" dt="2026-08-15T22:54:04.843" v="40" actId="14100"/>
        <pc:sldMkLst>
          <pc:docMk/>
          <pc:sldMk cId="0" sldId="263"/>
        </pc:sldMkLst>
        <pc:picChg chg="mod">
          <ac:chgData name="MONOJIT SAMANTA" userId="c6a1b9be0e9f5584" providerId="LiveId" clId="{630F4618-FCEF-4AE5-B5B1-D0D9B2595B7F}" dt="2026-08-15T22:54:04.843" v="40" actId="14100"/>
          <ac:picMkLst>
            <pc:docMk/>
            <pc:sldMk cId="0" sldId="263"/>
            <ac:picMk id="3" creationId="{00000000-0000-0000-0000-000000000000}"/>
          </ac:picMkLst>
        </pc:picChg>
        <pc:picChg chg="del">
          <ac:chgData name="MONOJIT SAMANTA" userId="c6a1b9be0e9f5584" providerId="LiveId" clId="{630F4618-FCEF-4AE5-B5B1-D0D9B2595B7F}" dt="2026-08-15T22:52:13.906" v="24" actId="478"/>
          <ac:picMkLst>
            <pc:docMk/>
            <pc:sldMk cId="0" sldId="263"/>
            <ac:picMk id="4" creationId="{00000000-0000-0000-0000-000000000000}"/>
          </ac:picMkLst>
        </pc:picChg>
        <pc:picChg chg="add mod">
          <ac:chgData name="MONOJIT SAMANTA" userId="c6a1b9be0e9f5584" providerId="LiveId" clId="{630F4618-FCEF-4AE5-B5B1-D0D9B2595B7F}" dt="2026-08-15T22:54:02.313" v="39" actId="14100"/>
          <ac:picMkLst>
            <pc:docMk/>
            <pc:sldMk cId="0" sldId="263"/>
            <ac:picMk id="25" creationId="{A82B8CEB-ED51-F14C-1F32-CB3B94543A25}"/>
          </ac:picMkLst>
        </pc:picChg>
      </pc:sldChg>
      <pc:sldChg chg="addSp delSp modSp mod">
        <pc:chgData name="MONOJIT SAMANTA" userId="c6a1b9be0e9f5584" providerId="LiveId" clId="{630F4618-FCEF-4AE5-B5B1-D0D9B2595B7F}" dt="2026-08-14T20:16:13.784" v="12" actId="14100"/>
        <pc:sldMkLst>
          <pc:docMk/>
          <pc:sldMk cId="0" sldId="264"/>
        </pc:sldMkLst>
        <pc:picChg chg="del">
          <ac:chgData name="MONOJIT SAMANTA" userId="c6a1b9be0e9f5584" providerId="LiveId" clId="{630F4618-FCEF-4AE5-B5B1-D0D9B2595B7F}" dt="2026-08-14T20:15:41.420" v="6" actId="478"/>
          <ac:picMkLst>
            <pc:docMk/>
            <pc:sldMk cId="0" sldId="264"/>
            <ac:picMk id="4" creationId="{00000000-0000-0000-0000-000000000000}"/>
          </ac:picMkLst>
        </pc:picChg>
        <pc:picChg chg="add mod">
          <ac:chgData name="MONOJIT SAMANTA" userId="c6a1b9be0e9f5584" providerId="LiveId" clId="{630F4618-FCEF-4AE5-B5B1-D0D9B2595B7F}" dt="2026-08-14T20:16:13.784" v="12" actId="14100"/>
          <ac:picMkLst>
            <pc:docMk/>
            <pc:sldMk cId="0" sldId="264"/>
            <ac:picMk id="12" creationId="{8D4C0BFB-31D2-E449-6897-C6CEC2726467}"/>
          </ac:picMkLst>
        </pc:picChg>
      </pc:sldChg>
      <pc:sldChg chg="addSp delSp modSp mod">
        <pc:chgData name="MONOJIT SAMANTA" userId="c6a1b9be0e9f5584" providerId="LiveId" clId="{630F4618-FCEF-4AE5-B5B1-D0D9B2595B7F}" dt="2026-08-15T22:53:06.277" v="30" actId="14100"/>
        <pc:sldMkLst>
          <pc:docMk/>
          <pc:sldMk cId="0" sldId="265"/>
        </pc:sldMkLst>
        <pc:picChg chg="del">
          <ac:chgData name="MONOJIT SAMANTA" userId="c6a1b9be0e9f5584" providerId="LiveId" clId="{630F4618-FCEF-4AE5-B5B1-D0D9B2595B7F}" dt="2026-08-15T22:52:19.095" v="25" actId="478"/>
          <ac:picMkLst>
            <pc:docMk/>
            <pc:sldMk cId="0" sldId="265"/>
            <ac:picMk id="3" creationId="{00000000-0000-0000-0000-000000000000}"/>
          </ac:picMkLst>
        </pc:picChg>
        <pc:picChg chg="add mod">
          <ac:chgData name="MONOJIT SAMANTA" userId="c6a1b9be0e9f5584" providerId="LiveId" clId="{630F4618-FCEF-4AE5-B5B1-D0D9B2595B7F}" dt="2026-08-15T22:53:06.277" v="30" actId="14100"/>
          <ac:picMkLst>
            <pc:docMk/>
            <pc:sldMk cId="0" sldId="265"/>
            <ac:picMk id="22" creationId="{DFA08EB6-012A-CADE-544F-9CCD0F7457E9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902617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 framing: this deck walks through a full equity research and credit risk workup on Tata Power, built to demonstrate methodology end-to-end. Emphasize upfront that this is a portfolio/educational exercise, not a live recommendation.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Four questions frame the whole deck. Use this slide to set expectations that we're triangulating across multiple independent methods rather than leaning on one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gauge previews the credit scorecard finding developed fully on Slide 11. Revenue-by-segment and capacity mix aren't in the underlying data model, so they're honestly omitted rather than estimated.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PAT CAGR outrunning Revenue CAGR is the headline: margin recovery post the FY22-23 fuel-cost squeeze, not just volume growth. EPS growth has been steadier than PAT alone thanks to a fixed share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Assets and Liabilities &amp; Equity always balance by construction (both total ₹1,74,564 Cr in FY26) — the two charts are mirror images of the same balance sheet. Net Block has grown steadily (renewable asset additions); CWIP jumped sharply from FY24 as more projects entered construction simultaneously. FY26 net debt spike is capex-funded — same story as Slide 6's leverage dip.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Six-panel dashboard: profitability (ROE, ROIC), coverage (Interest Coverage), balance-sheet health (Current Ratio, Net Debt/EBITDA, Debt/Cap). The FY26 dip across nearly every panel traces to the debt raise funding renewable capex (Slide 5, 7-8).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CapEx trend (proxy: change in gross block + CWIP) shows the accelerating renewable buildout directly. FCFF grows ~4.5x from Current Year to Year 5 as reinvestment eases. This model doesn't build a separate Revenue/EBITDA-in-rupees forecast — growth flows through EBIT/NOPAT via the ROIC-reinvestment link instead.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named drivers for the gap: (1) reinvestment rate suppresses near-term FCFF, (2) consolidated model excludes TPREL's standalone growth-option value. The sensitivity heatmap preempts 'did you just pick unfavorable assumptions' — even the best-case cell undershoots market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EV/EBITDA of 10.55x sits between mature peers (~10-11x) and richly-valued renewable pure-plays (excluded here as earnings-quality outliers). Football field: market price clears every DCF scenario but sits inside the peer range.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IMPORTANT CAVEAT: the Monte Carlo distribution is an illustrative simulation built from the workbook's portfolio variance/covariance figures, not a re-run of the original path-level simulation. Directionally consistent with the workbook's reported Monte Carlo VaR. Beta is highly statistically significant (p&lt;0.001, t-stat 7.60).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the project's central finding. Scorecard: 38/100 'High Risk' in FY26, 'High Risk' in 7 of 10 years overall, while actual CRISIL rating rose from AA- to AA+ with zero downgrades over the same period.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findings, roughly in descending order of materiality. Findings 1 and 2 matter most for a CFO audience.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Deliberately no Buy/Hold/Sell stamp. The 'Bottom Line' box is the closing message: every model here runs conservative relative to market/agency views, and each gap has a named, specific explanation.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286000"/>
            <a:ext cx="121889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TATA POWER LTD.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0" y="3200400"/>
            <a:ext cx="121889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i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 Presentation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71600" y="3886200"/>
            <a:ext cx="94457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C7CE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Research, Valuation &amp; Credit Risk Analysis — FY2017 to FY2026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0" y="4663440"/>
            <a:ext cx="1218895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9AA5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 for Executive Review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0" y="6263640"/>
            <a:ext cx="121889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7A85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Educational Portfolio Project — Not Investment Advice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 — What Questions Are We Answering?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48640" y="1371600"/>
            <a:ext cx="11091672" cy="1143000"/>
          </a:xfrm>
          <a:prstGeom prst="roundRect">
            <a:avLst>
              <a:gd name="adj" fmla="val 5600"/>
            </a:avLst>
          </a:prstGeom>
          <a:solidFill>
            <a:srgbClr val="F7F8FA"/>
          </a:solidFill>
          <a:ln w="12700">
            <a:solidFill>
              <a:srgbClr val="E2E5F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1371600"/>
            <a:ext cx="914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1737360" y="1481328"/>
            <a:ext cx="9720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is Tata Power actually worth?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737360" y="1920240"/>
            <a:ext cx="9720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Intrinsic value via DCF, cross-checked against peer trading multiples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48640" y="2697480"/>
            <a:ext cx="11091672" cy="1143000"/>
          </a:xfrm>
          <a:prstGeom prst="roundRect">
            <a:avLst>
              <a:gd name="adj" fmla="val 5600"/>
            </a:avLst>
          </a:prstGeom>
          <a:solidFill>
            <a:srgbClr val="F7F8FA"/>
          </a:solidFill>
          <a:ln w="12700">
            <a:solidFill>
              <a:srgbClr val="E2E5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2697480"/>
            <a:ext cx="914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1737360" y="2807208"/>
            <a:ext cx="9720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 the company's leverage a credit concern?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737360" y="3246120"/>
            <a:ext cx="9720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utility-specific credit scorecard, benchmarked against the actual CRISIL rating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548640" y="4023360"/>
            <a:ext cx="11091672" cy="1143000"/>
          </a:xfrm>
          <a:prstGeom prst="roundRect">
            <a:avLst>
              <a:gd name="adj" fmla="val 5600"/>
            </a:avLst>
          </a:prstGeom>
          <a:solidFill>
            <a:srgbClr val="F7F8FA"/>
          </a:solidFill>
          <a:ln w="12700">
            <a:solidFill>
              <a:srgbClr val="E2E5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1520" y="4023360"/>
            <a:ext cx="914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737360" y="4133088"/>
            <a:ext cx="9720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much downside risk does the position carry?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737360" y="4572000"/>
            <a:ext cx="9720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Value-at-Risk across three independent methodologies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548640" y="5349240"/>
            <a:ext cx="11091672" cy="1143000"/>
          </a:xfrm>
          <a:prstGeom prst="roundRect">
            <a:avLst>
              <a:gd name="adj" fmla="val 5600"/>
            </a:avLst>
          </a:prstGeom>
          <a:solidFill>
            <a:srgbClr val="F7F8FA"/>
          </a:solidFill>
          <a:ln w="12700">
            <a:solidFill>
              <a:srgbClr val="E2E5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5349240"/>
            <a:ext cx="9144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737360" y="5458968"/>
            <a:ext cx="9720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does the market price sit relative to every method?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737360" y="5897880"/>
            <a:ext cx="97200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football field synthesis spanning DCF, peers, and 52-week range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Power Ltd. — Management Presentation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Company Overview — India's Largest Integrated Power Utility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35661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Generation, transmission, and distribution across India, Georgia, and Zambia. First Indian company to ship over 1 GW of solar modules (Feb 2017).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548640" y="256032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48640" y="2880360"/>
            <a:ext cx="356616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Regulated Generation  •  Transmission &amp; Distribution  •  Renewable Energy (TPREL)  •  International Assets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548640" y="38862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Position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4206240"/>
            <a:ext cx="356616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India's largest integrated private power utility. CRISIL AA+/Stable and ICRA AA+/Stable, upgraded steadily from AA- (FY17) with zero downgrades.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434840" y="1234440"/>
            <a:ext cx="301752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2E5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434840" y="1344168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14,700+ MW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507992" y="1801368"/>
            <a:ext cx="28712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Capacity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434840" y="2313432"/>
            <a:ext cx="301752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2E5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434840" y="24231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70%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4507992" y="2880360"/>
            <a:ext cx="28712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Energy Target by 2030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434840" y="3392424"/>
            <a:ext cx="3017520" cy="914400"/>
          </a:xfrm>
          <a:prstGeom prst="roundRect">
            <a:avLst>
              <a:gd name="adj" fmla="val 6000"/>
            </a:avLst>
          </a:prstGeom>
          <a:solidFill>
            <a:srgbClr val="1E2761"/>
          </a:solidFill>
          <a:ln w="12700">
            <a:solidFill>
              <a:srgbClr val="E2E5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434840" y="3502152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46.9%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4507992" y="3959352"/>
            <a:ext cx="2871216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Promoter Holding (Tata Sons)</a:t>
            </a:r>
            <a:endParaRPr lang="en-US" sz="900" dirty="0"/>
          </a:p>
        </p:txBody>
      </p:sp>
      <p:pic>
        <p:nvPicPr>
          <p:cNvPr id="18" name="Image 0" descr="/home/claude/charts/credit_gau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5800" y="731520"/>
            <a:ext cx="5613400" cy="3840480"/>
          </a:xfrm>
          <a:prstGeom prst="rect">
            <a:avLst/>
          </a:prstGeom>
        </p:spPr>
      </p:pic>
      <p:sp>
        <p:nvSpPr>
          <p:cNvPr id="19" name="Text 16"/>
          <p:cNvSpPr/>
          <p:nvPr/>
        </p:nvSpPr>
        <p:spPr>
          <a:xfrm>
            <a:off x="548640" y="5349240"/>
            <a:ext cx="1109167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Revenue-by-segment and installed-capacity-by-fuel-type breakdowns are not available in the underlying data model and are not shown here rather than estimated.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Power Ltd. — Management Presentation</a:t>
            </a:r>
            <a:endParaRPr lang="en-US" sz="900" dirty="0"/>
          </a:p>
        </p:txBody>
      </p:sp>
      <p:sp>
        <p:nvSpPr>
          <p:cNvPr id="21" name="Text 18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Historical Performance — Revenue, EBITDA, PAT &amp; EPS</a:t>
            </a:r>
            <a:endParaRPr lang="en-US" sz="2500" dirty="0"/>
          </a:p>
        </p:txBody>
      </p:sp>
      <p:pic>
        <p:nvPicPr>
          <p:cNvPr id="4" name="Image 1" descr="/home/claude/charts/margin_tr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903381"/>
            <a:ext cx="5650992" cy="2832857"/>
          </a:xfrm>
          <a:prstGeom prst="rect">
            <a:avLst/>
          </a:prstGeom>
        </p:spPr>
      </p:pic>
      <p:pic>
        <p:nvPicPr>
          <p:cNvPr id="5" name="Image 2" descr="/home/claude/charts/eps_tren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3977640"/>
            <a:ext cx="2697480" cy="1417320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3246120" y="3977640"/>
            <a:ext cx="2743200" cy="1417320"/>
          </a:xfrm>
          <a:prstGeom prst="roundRect">
            <a:avLst>
              <a:gd name="adj" fmla="val 3871"/>
            </a:avLst>
          </a:prstGeom>
          <a:solidFill>
            <a:srgbClr val="F7F8FA"/>
          </a:solidFill>
          <a:ln w="12700">
            <a:solidFill>
              <a:srgbClr val="E2E5F0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3246120" y="4147718"/>
            <a:ext cx="2743200" cy="7086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9.5%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3319272" y="4856378"/>
            <a:ext cx="2596896" cy="4960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CAGR (FY17-26)</a:t>
            </a:r>
            <a:endParaRPr lang="en-US" sz="900" dirty="0"/>
          </a:p>
        </p:txBody>
      </p:sp>
      <p:sp>
        <p:nvSpPr>
          <p:cNvPr id="9" name="Shape 4"/>
          <p:cNvSpPr/>
          <p:nvPr/>
        </p:nvSpPr>
        <p:spPr>
          <a:xfrm>
            <a:off x="6172200" y="3977640"/>
            <a:ext cx="2743200" cy="1417320"/>
          </a:xfrm>
          <a:prstGeom prst="roundRect">
            <a:avLst>
              <a:gd name="adj" fmla="val 3871"/>
            </a:avLst>
          </a:prstGeom>
          <a:solidFill>
            <a:srgbClr val="F7F8FA"/>
          </a:solidFill>
          <a:ln w="12700">
            <a:solidFill>
              <a:srgbClr val="E2E5F0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6172200" y="4147718"/>
            <a:ext cx="2743200" cy="7086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9.4%</a:t>
            </a:r>
            <a:endParaRPr lang="en-US" sz="1800" dirty="0"/>
          </a:p>
        </p:txBody>
      </p:sp>
      <p:sp>
        <p:nvSpPr>
          <p:cNvPr id="11" name="Text 6"/>
          <p:cNvSpPr/>
          <p:nvPr/>
        </p:nvSpPr>
        <p:spPr>
          <a:xfrm>
            <a:off x="6245352" y="4856378"/>
            <a:ext cx="2596896" cy="4960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EBITDA CAGR (FY17-26)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9098280" y="3977640"/>
            <a:ext cx="2651760" cy="1417320"/>
          </a:xfrm>
          <a:prstGeom prst="roundRect">
            <a:avLst>
              <a:gd name="adj" fmla="val 3871"/>
            </a:avLst>
          </a:prstGeom>
          <a:solidFill>
            <a:srgbClr val="F7F8FA"/>
          </a:solidFill>
          <a:ln w="12700">
            <a:solidFill>
              <a:srgbClr val="E2E5F0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9098280" y="4147718"/>
            <a:ext cx="2651760" cy="7086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18.6%</a:t>
            </a:r>
            <a:endParaRPr lang="en-US" sz="1800" dirty="0"/>
          </a:p>
        </p:txBody>
      </p:sp>
      <p:sp>
        <p:nvSpPr>
          <p:cNvPr id="14" name="Text 9"/>
          <p:cNvSpPr/>
          <p:nvPr/>
        </p:nvSpPr>
        <p:spPr>
          <a:xfrm>
            <a:off x="9171432" y="4856378"/>
            <a:ext cx="2505456" cy="49606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 CAGR (FY17-26)</a:t>
            </a:r>
            <a:endParaRPr lang="en-US" sz="900" dirty="0"/>
          </a:p>
        </p:txBody>
      </p:sp>
      <p:sp>
        <p:nvSpPr>
          <p:cNvPr id="15" name="Shape 10"/>
          <p:cNvSpPr/>
          <p:nvPr/>
        </p:nvSpPr>
        <p:spPr>
          <a:xfrm>
            <a:off x="548640" y="553212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7F8FA"/>
          </a:solidFill>
          <a:ln w="12700">
            <a:solidFill>
              <a:srgbClr val="E2E5F0"/>
            </a:solidFill>
            <a:prstDash val="solid"/>
          </a:ln>
        </p:spPr>
      </p:sp>
      <p:sp>
        <p:nvSpPr>
          <p:cNvPr id="16" name="Text 11"/>
          <p:cNvSpPr/>
          <p:nvPr/>
        </p:nvSpPr>
        <p:spPr>
          <a:xfrm>
            <a:off x="731520" y="557784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 </a:t>
            </a: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 has grown faster than revenue (18.6% vs 9.5% CAGR) — margin recovery, not just top-line growth, is driving profitability.</a:t>
            </a:r>
            <a:endParaRPr lang="en-US" sz="1150" dirty="0"/>
          </a:p>
        </p:txBody>
      </p:sp>
      <p:sp>
        <p:nvSpPr>
          <p:cNvPr id="17" name="Text 12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Power Ltd. — Management Presentation</a:t>
            </a:r>
            <a:endParaRPr lang="en-US" sz="900" dirty="0"/>
          </a:p>
        </p:txBody>
      </p:sp>
      <p:sp>
        <p:nvSpPr>
          <p:cNvPr id="18" name="Text 13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pic>
        <p:nvPicPr>
          <p:cNvPr id="19" name="Image 0">
            <a:extLst>
              <a:ext uri="{FF2B5EF4-FFF2-40B4-BE49-F238E27FC236}">
                <a16:creationId xmlns:a16="http://schemas.microsoft.com/office/drawing/2014/main" id="{F46BA5E9-F668-BD4C-1296-EDC113AB79B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199" y="903381"/>
            <a:ext cx="5562601" cy="276726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Balance Sheet — Assets vs. Liabilities &amp; Capital Structure</a:t>
            </a:r>
            <a:endParaRPr lang="en-US" sz="2200" dirty="0"/>
          </a:p>
        </p:txBody>
      </p:sp>
      <p:pic>
        <p:nvPicPr>
          <p:cNvPr id="3" name="Image 0" descr="/home/claude/charts/asset_composi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960120"/>
            <a:ext cx="5811756" cy="3019123"/>
          </a:xfrm>
          <a:prstGeom prst="rect">
            <a:avLst/>
          </a:prstGeom>
        </p:spPr>
      </p:pic>
      <p:pic>
        <p:nvPicPr>
          <p:cNvPr id="4" name="Image 1" descr="/home/claude/charts/capital_stru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77516" y="960120"/>
            <a:ext cx="5618244" cy="3019123"/>
          </a:xfrm>
          <a:prstGeom prst="rect">
            <a:avLst/>
          </a:prstGeom>
        </p:spPr>
      </p:pic>
      <p:pic>
        <p:nvPicPr>
          <p:cNvPr id="5" name="Image 2" descr="/home/claude/charts/net_debt_tre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4114800"/>
            <a:ext cx="3090672" cy="1643974"/>
          </a:xfrm>
          <a:prstGeom prst="rect">
            <a:avLst/>
          </a:prstGeom>
        </p:spPr>
      </p:pic>
      <p:sp>
        <p:nvSpPr>
          <p:cNvPr id="6" name="Shape 1"/>
          <p:cNvSpPr/>
          <p:nvPr/>
        </p:nvSpPr>
        <p:spPr>
          <a:xfrm>
            <a:off x="3657600" y="4114800"/>
            <a:ext cx="3977640" cy="1645920"/>
          </a:xfrm>
          <a:prstGeom prst="roundRect">
            <a:avLst>
              <a:gd name="adj" fmla="val 3333"/>
            </a:avLst>
          </a:prstGeom>
          <a:solidFill>
            <a:srgbClr val="F7F8FA"/>
          </a:solidFill>
          <a:ln w="12700">
            <a:solidFill>
              <a:srgbClr val="E2E5F0"/>
            </a:solidFill>
            <a:prstDash val="solid"/>
          </a:ln>
        </p:spPr>
      </p:sp>
      <p:sp>
        <p:nvSpPr>
          <p:cNvPr id="7" name="Text 2"/>
          <p:cNvSpPr/>
          <p:nvPr/>
        </p:nvSpPr>
        <p:spPr>
          <a:xfrm>
            <a:off x="3657600" y="4312310"/>
            <a:ext cx="3977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₹62,497 Cr</a:t>
            </a:r>
            <a:endParaRPr lang="en-US" sz="1800" dirty="0"/>
          </a:p>
        </p:txBody>
      </p:sp>
      <p:sp>
        <p:nvSpPr>
          <p:cNvPr id="8" name="Text 3"/>
          <p:cNvSpPr/>
          <p:nvPr/>
        </p:nvSpPr>
        <p:spPr>
          <a:xfrm>
            <a:off x="3730752" y="5135270"/>
            <a:ext cx="3831336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 Debt (FY26)</a:t>
            </a:r>
            <a:endParaRPr lang="en-US" sz="900" dirty="0"/>
          </a:p>
        </p:txBody>
      </p:sp>
      <p:sp>
        <p:nvSpPr>
          <p:cNvPr id="9" name="Shape 4"/>
          <p:cNvSpPr/>
          <p:nvPr/>
        </p:nvSpPr>
        <p:spPr>
          <a:xfrm>
            <a:off x="7818120" y="4114800"/>
            <a:ext cx="3977640" cy="1645920"/>
          </a:xfrm>
          <a:prstGeom prst="roundRect">
            <a:avLst>
              <a:gd name="adj" fmla="val 3333"/>
            </a:avLst>
          </a:prstGeom>
          <a:solidFill>
            <a:srgbClr val="F7F8FA"/>
          </a:solidFill>
          <a:ln w="12700">
            <a:solidFill>
              <a:srgbClr val="E2E5F0"/>
            </a:solidFill>
            <a:prstDash val="solid"/>
          </a:ln>
        </p:spPr>
      </p:sp>
      <p:sp>
        <p:nvSpPr>
          <p:cNvPr id="10" name="Text 5"/>
          <p:cNvSpPr/>
          <p:nvPr/>
        </p:nvSpPr>
        <p:spPr>
          <a:xfrm>
            <a:off x="7818120" y="4312310"/>
            <a:ext cx="39776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₹1,74,564 Cr</a:t>
            </a:r>
            <a:endParaRPr lang="en-US" sz="1800" dirty="0"/>
          </a:p>
        </p:txBody>
      </p:sp>
      <p:sp>
        <p:nvSpPr>
          <p:cNvPr id="11" name="Text 6"/>
          <p:cNvSpPr/>
          <p:nvPr/>
        </p:nvSpPr>
        <p:spPr>
          <a:xfrm>
            <a:off x="7891272" y="5135270"/>
            <a:ext cx="3831336" cy="5760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Capitalization (FY26)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548640" y="585216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F7F8FA"/>
          </a:solidFill>
          <a:ln w="12700">
            <a:solidFill>
              <a:srgbClr val="E2E5F0"/>
            </a:solidFill>
            <a:prstDash val="solid"/>
          </a:ln>
        </p:spPr>
      </p:sp>
      <p:sp>
        <p:nvSpPr>
          <p:cNvPr id="13" name="Text 8"/>
          <p:cNvSpPr/>
          <p:nvPr/>
        </p:nvSpPr>
        <p:spPr>
          <a:xfrm>
            <a:off x="731520" y="5897880"/>
            <a:ext cx="1100023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 </a:t>
            </a: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assets grew 2.1x over the decade (₹82,829 Cr → ₹1,74,564 Cr), funded increasingly by debt — net debt has more than doubled since FY21.</a:t>
            </a:r>
            <a:endParaRPr lang="en-US" sz="1150" dirty="0"/>
          </a:p>
        </p:txBody>
      </p:sp>
      <p:sp>
        <p:nvSpPr>
          <p:cNvPr id="14" name="Text 9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Power Ltd. — Management Presentation</a:t>
            </a:r>
            <a:endParaRPr lang="en-US" sz="900" dirty="0"/>
          </a:p>
        </p:txBody>
      </p:sp>
      <p:sp>
        <p:nvSpPr>
          <p:cNvPr id="15" name="Text 10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Financial Health — Ratio Dashboard</a:t>
            </a:r>
            <a:endParaRPr lang="en-US" sz="2500" dirty="0"/>
          </a:p>
        </p:txBody>
      </p:sp>
      <p:sp>
        <p:nvSpPr>
          <p:cNvPr id="4" name="Shape 1"/>
          <p:cNvSpPr/>
          <p:nvPr/>
        </p:nvSpPr>
        <p:spPr>
          <a:xfrm>
            <a:off x="548640" y="5777734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7F8FA"/>
          </a:solidFill>
          <a:ln w="12700">
            <a:solidFill>
              <a:srgbClr val="E2E5F0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731520" y="5823454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 </a:t>
            </a: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ROIC nearly doubled from FY17 (5.9%) to FY25 (11.3%) before pulling back to 7.9% in FY26 as fresh renewable capex diluted near-term returns.</a:t>
            </a:r>
            <a:endParaRPr lang="en-US" sz="1150" dirty="0"/>
          </a:p>
        </p:txBody>
      </p:sp>
      <p:sp>
        <p:nvSpPr>
          <p:cNvPr id="6" name="Text 3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Power Ltd. — Management Presentation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1F9677D-C256-59D1-EBE6-C1801E27055C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8968"/>
          <a:stretch>
            <a:fillRect/>
          </a:stretch>
        </p:blipFill>
        <p:spPr>
          <a:xfrm>
            <a:off x="548640" y="861848"/>
            <a:ext cx="11091672" cy="475001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Forecast — Free Cash Flow &amp; Capital Expenditure</a:t>
            </a:r>
            <a:endParaRPr lang="en-US" sz="2500" dirty="0"/>
          </a:p>
        </p:txBody>
      </p:sp>
      <p:pic>
        <p:nvPicPr>
          <p:cNvPr id="3" name="Image 0" descr="/home/claude/charts/fcff_foreca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05840"/>
            <a:ext cx="5486400" cy="3280555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365760" y="4343400"/>
            <a:ext cx="11430000" cy="960120"/>
          </a:xfrm>
          <a:prstGeom prst="roundRect">
            <a:avLst>
              <a:gd name="adj" fmla="val 6667"/>
            </a:avLst>
          </a:prstGeom>
          <a:solidFill>
            <a:srgbClr val="F7F8FA"/>
          </a:solidFill>
          <a:ln w="12700">
            <a:solidFill>
              <a:srgbClr val="E2E5F0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594360" y="4343400"/>
            <a:ext cx="1097280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 is driven by g = ROIC × Reinvestment Rate — not a separate top-line assumption. Reinvestment rate declines from 84% → 56% of NOPAT across the forecast as the capex cycle matures. Terminal growth is capped at 4.5%, below the 6.8% risk-free rate.</a:t>
            </a:r>
            <a:endParaRPr lang="en-US" sz="1100" dirty="0"/>
          </a:p>
        </p:txBody>
      </p:sp>
      <p:sp>
        <p:nvSpPr>
          <p:cNvPr id="7" name="Shape 3"/>
          <p:cNvSpPr/>
          <p:nvPr/>
        </p:nvSpPr>
        <p:spPr>
          <a:xfrm>
            <a:off x="548640" y="5486400"/>
            <a:ext cx="11247120" cy="548640"/>
          </a:xfrm>
          <a:prstGeom prst="roundRect">
            <a:avLst>
              <a:gd name="adj" fmla="val 10000"/>
            </a:avLst>
          </a:prstGeom>
          <a:solidFill>
            <a:srgbClr val="F7F8FA"/>
          </a:solidFill>
          <a:ln w="12700">
            <a:solidFill>
              <a:srgbClr val="E2E5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31520" y="553212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 </a:t>
            </a: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Near-term FCFF is deliberately suppressed by heavy reinvestment — this is the single largest driver of the DCF's discount to market price (Slide 8).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Power Ltd. — Management Presentation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3327F9C-751A-AF4F-87B8-6681EFA8DEF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5040" y="1005840"/>
            <a:ext cx="5760720" cy="328055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DCF Valuation — Intrinsic Value vs. Market Price</a:t>
            </a:r>
            <a:endParaRPr lang="en-US" sz="2300" dirty="0"/>
          </a:p>
        </p:txBody>
      </p:sp>
      <p:pic>
        <p:nvPicPr>
          <p:cNvPr id="3" name="Image 0" descr="/home/claude/charts/dcf_bri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930031"/>
            <a:ext cx="5577840" cy="3558069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355127" y="4687896"/>
            <a:ext cx="2212848" cy="868680"/>
          </a:xfrm>
          <a:prstGeom prst="roundRect">
            <a:avLst>
              <a:gd name="adj" fmla="val 6316"/>
            </a:avLst>
          </a:prstGeom>
          <a:solidFill>
            <a:srgbClr val="F7F8FA"/>
          </a:solidFill>
          <a:ln w="12700">
            <a:solidFill>
              <a:srgbClr val="E2E5F0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355127" y="4792138"/>
            <a:ext cx="2212848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₹52,047 Cr</a:t>
            </a:r>
            <a:endParaRPr lang="en-US" sz="1400" dirty="0"/>
          </a:p>
        </p:txBody>
      </p:sp>
      <p:sp>
        <p:nvSpPr>
          <p:cNvPr id="7" name="Text 3"/>
          <p:cNvSpPr/>
          <p:nvPr/>
        </p:nvSpPr>
        <p:spPr>
          <a:xfrm>
            <a:off x="428279" y="5226478"/>
            <a:ext cx="2066544" cy="3040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Operating (EV) Value</a:t>
            </a:r>
            <a:endParaRPr lang="en-US" sz="900" dirty="0"/>
          </a:p>
        </p:txBody>
      </p:sp>
      <p:sp>
        <p:nvSpPr>
          <p:cNvPr id="8" name="Shape 4"/>
          <p:cNvSpPr/>
          <p:nvPr/>
        </p:nvSpPr>
        <p:spPr>
          <a:xfrm>
            <a:off x="2659415" y="4687896"/>
            <a:ext cx="2212848" cy="868680"/>
          </a:xfrm>
          <a:prstGeom prst="roundRect">
            <a:avLst>
              <a:gd name="adj" fmla="val 6316"/>
            </a:avLst>
          </a:prstGeom>
          <a:solidFill>
            <a:srgbClr val="F7F8FA"/>
          </a:solidFill>
          <a:ln w="12700">
            <a:solidFill>
              <a:srgbClr val="E2E5F0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2659415" y="4792138"/>
            <a:ext cx="2212848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₹6,125 Cr</a:t>
            </a:r>
            <a:endParaRPr lang="en-US" sz="1400" dirty="0"/>
          </a:p>
        </p:txBody>
      </p:sp>
      <p:sp>
        <p:nvSpPr>
          <p:cNvPr id="10" name="Text 6"/>
          <p:cNvSpPr/>
          <p:nvPr/>
        </p:nvSpPr>
        <p:spPr>
          <a:xfrm>
            <a:off x="2732567" y="5226478"/>
            <a:ext cx="2066544" cy="3040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Value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4963703" y="4687896"/>
            <a:ext cx="2212848" cy="868680"/>
          </a:xfrm>
          <a:prstGeom prst="roundRect">
            <a:avLst>
              <a:gd name="adj" fmla="val 6316"/>
            </a:avLst>
          </a:prstGeom>
          <a:solidFill>
            <a:srgbClr val="C9A227"/>
          </a:solidFill>
          <a:ln w="12700">
            <a:solidFill>
              <a:srgbClr val="E2E5F0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4963703" y="4792138"/>
            <a:ext cx="2212848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₹19.17</a:t>
            </a:r>
            <a:endParaRPr lang="en-US" sz="1400" dirty="0"/>
          </a:p>
        </p:txBody>
      </p:sp>
      <p:sp>
        <p:nvSpPr>
          <p:cNvPr id="13" name="Text 9"/>
          <p:cNvSpPr/>
          <p:nvPr/>
        </p:nvSpPr>
        <p:spPr>
          <a:xfrm>
            <a:off x="5036855" y="5226478"/>
            <a:ext cx="2066544" cy="3040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3A2F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Intrinsic Value/Share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7267991" y="4687896"/>
            <a:ext cx="2212848" cy="868680"/>
          </a:xfrm>
          <a:prstGeom prst="roundRect">
            <a:avLst>
              <a:gd name="adj" fmla="val 6316"/>
            </a:avLst>
          </a:prstGeom>
          <a:solidFill>
            <a:srgbClr val="F7F8FA"/>
          </a:solidFill>
          <a:ln w="12700">
            <a:solidFill>
              <a:srgbClr val="E2E5F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7267991" y="4792138"/>
            <a:ext cx="2212848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₹402.35</a:t>
            </a:r>
            <a:endParaRPr lang="en-US" sz="1400" dirty="0"/>
          </a:p>
        </p:txBody>
      </p:sp>
      <p:sp>
        <p:nvSpPr>
          <p:cNvPr id="16" name="Text 12"/>
          <p:cNvSpPr/>
          <p:nvPr/>
        </p:nvSpPr>
        <p:spPr>
          <a:xfrm>
            <a:off x="7341143" y="5226478"/>
            <a:ext cx="2066544" cy="3040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Price/Share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9572279" y="4687896"/>
            <a:ext cx="2212848" cy="868680"/>
          </a:xfrm>
          <a:prstGeom prst="roundRect">
            <a:avLst>
              <a:gd name="adj" fmla="val 6316"/>
            </a:avLst>
          </a:prstGeom>
          <a:solidFill>
            <a:srgbClr val="A32638"/>
          </a:solidFill>
          <a:ln w="12700">
            <a:solidFill>
              <a:srgbClr val="E2E5F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9572279" y="4792138"/>
            <a:ext cx="2212848" cy="4343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-95.2%</a:t>
            </a:r>
            <a:endParaRPr lang="en-US" sz="1400" dirty="0"/>
          </a:p>
        </p:txBody>
      </p:sp>
      <p:sp>
        <p:nvSpPr>
          <p:cNvPr id="19" name="Text 15"/>
          <p:cNvSpPr/>
          <p:nvPr/>
        </p:nvSpPr>
        <p:spPr>
          <a:xfrm>
            <a:off x="9645431" y="5226478"/>
            <a:ext cx="2066544" cy="30403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F4D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Discount to Market</a:t>
            </a:r>
            <a:endParaRPr lang="en-US" sz="900" dirty="0"/>
          </a:p>
        </p:txBody>
      </p:sp>
      <p:sp>
        <p:nvSpPr>
          <p:cNvPr id="20" name="Shape 16"/>
          <p:cNvSpPr/>
          <p:nvPr/>
        </p:nvSpPr>
        <p:spPr>
          <a:xfrm>
            <a:off x="365761" y="5710741"/>
            <a:ext cx="11419366" cy="548640"/>
          </a:xfrm>
          <a:prstGeom prst="roundRect">
            <a:avLst>
              <a:gd name="adj" fmla="val 10000"/>
            </a:avLst>
          </a:prstGeom>
          <a:solidFill>
            <a:srgbClr val="F7F8FA"/>
          </a:solidFill>
          <a:ln w="12700">
            <a:solidFill>
              <a:srgbClr val="E2E5F0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31520" y="5756461"/>
            <a:ext cx="108659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 </a:t>
            </a: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the most favorable sensitivity case (WACC 8.55%, growth 6.5%) yields ₹332 — still below market price. The gap is structural, not a base-case artifact.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Power Ltd. — Management Presentation</a:t>
            </a:r>
            <a:endParaRPr lang="en-US" sz="900" dirty="0"/>
          </a:p>
        </p:txBody>
      </p:sp>
      <p:sp>
        <p:nvSpPr>
          <p:cNvPr id="23" name="Text 19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A82B8CEB-ED51-F14C-1F32-CB3B94543A2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26480" y="930031"/>
            <a:ext cx="5658646" cy="355806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3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Relative Valuation — Peer Comparison &amp; Football Field</a:t>
            </a:r>
            <a:endParaRPr lang="en-US" sz="2300" dirty="0"/>
          </a:p>
        </p:txBody>
      </p:sp>
      <p:pic>
        <p:nvPicPr>
          <p:cNvPr id="3" name="Image 0" descr="/home/claude/charts/peer_multiples_combin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51560"/>
            <a:ext cx="5257800" cy="3202071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548640" y="4526280"/>
            <a:ext cx="49377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Power: 10.55x EV/EBITDA, 25.12x P/E</a:t>
            </a:r>
            <a:endParaRPr lang="en-US" sz="1200" dirty="0"/>
          </a:p>
        </p:txBody>
      </p:sp>
      <p:sp>
        <p:nvSpPr>
          <p:cNvPr id="6" name="Text 2"/>
          <p:cNvSpPr/>
          <p:nvPr/>
        </p:nvSpPr>
        <p:spPr>
          <a:xfrm>
            <a:off x="548640" y="4846320"/>
            <a:ext cx="51206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line with mature integrated peers (NTPC, Power Grid ~10-11x EV/EBITDA)</a:t>
            </a:r>
            <a:endParaRPr lang="en-US" sz="1050" dirty="0"/>
          </a:p>
        </p:txBody>
      </p:sp>
      <p:sp>
        <p:nvSpPr>
          <p:cNvPr id="7" name="Shape 3"/>
          <p:cNvSpPr/>
          <p:nvPr/>
        </p:nvSpPr>
        <p:spPr>
          <a:xfrm>
            <a:off x="548640" y="553212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7F8FA"/>
          </a:solidFill>
          <a:ln w="12700">
            <a:solidFill>
              <a:srgbClr val="E2E5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31520" y="557784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 </a:t>
            </a: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price sits within the peer-implied range but above every DCF scenario — the market may be pricing in growth optionality this model doesn't capture.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Power Ltd. — Management Presentation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8D4C0BFB-31D2-E449-6897-C6CEC272646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1" y="1051560"/>
            <a:ext cx="5971032" cy="4251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Analysis I — Market Risk (VaR, Beta &amp; Monte Carlo)</a:t>
            </a:r>
            <a:endParaRPr lang="en-US" sz="2200" dirty="0"/>
          </a:p>
        </p:txBody>
      </p:sp>
      <p:pic>
        <p:nvPicPr>
          <p:cNvPr id="4" name="Image 1" descr="/home/claude/charts/monte_carlo_dis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8419" y="1030529"/>
            <a:ext cx="5951893" cy="301752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365760" y="4251960"/>
            <a:ext cx="2651760" cy="777240"/>
          </a:xfrm>
          <a:prstGeom prst="roundRect">
            <a:avLst>
              <a:gd name="adj" fmla="val 7059"/>
            </a:avLst>
          </a:prstGeom>
          <a:solidFill>
            <a:srgbClr val="F7F8FA"/>
          </a:solidFill>
          <a:ln w="12700">
            <a:solidFill>
              <a:srgbClr val="E2E5F0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365760" y="4345229"/>
            <a:ext cx="265176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1.26</a:t>
            </a:r>
            <a:endParaRPr lang="en-US" sz="1600" dirty="0"/>
          </a:p>
        </p:txBody>
      </p:sp>
      <p:sp>
        <p:nvSpPr>
          <p:cNvPr id="7" name="Text 3"/>
          <p:cNvSpPr/>
          <p:nvPr/>
        </p:nvSpPr>
        <p:spPr>
          <a:xfrm>
            <a:off x="438912" y="4733849"/>
            <a:ext cx="2505456" cy="2720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Beta (2yr Weekly Regression)</a:t>
            </a:r>
            <a:endParaRPr lang="en-US" sz="900" dirty="0"/>
          </a:p>
        </p:txBody>
      </p:sp>
      <p:sp>
        <p:nvSpPr>
          <p:cNvPr id="8" name="Shape 4"/>
          <p:cNvSpPr/>
          <p:nvPr/>
        </p:nvSpPr>
        <p:spPr>
          <a:xfrm>
            <a:off x="3200400" y="4251960"/>
            <a:ext cx="2651760" cy="777240"/>
          </a:xfrm>
          <a:prstGeom prst="roundRect">
            <a:avLst>
              <a:gd name="adj" fmla="val 7059"/>
            </a:avLst>
          </a:prstGeom>
          <a:solidFill>
            <a:srgbClr val="F7F8FA"/>
          </a:solidFill>
          <a:ln w="12700">
            <a:solidFill>
              <a:srgbClr val="E2E5F0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3200400" y="4345229"/>
            <a:ext cx="265176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0.361</a:t>
            </a:r>
            <a:endParaRPr lang="en-US" sz="1600" dirty="0"/>
          </a:p>
        </p:txBody>
      </p:sp>
      <p:sp>
        <p:nvSpPr>
          <p:cNvPr id="10" name="Text 6"/>
          <p:cNvSpPr/>
          <p:nvPr/>
        </p:nvSpPr>
        <p:spPr>
          <a:xfrm>
            <a:off x="3273552" y="4733849"/>
            <a:ext cx="2505456" cy="2720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 (Regression Fit)</a:t>
            </a:r>
            <a:endParaRPr lang="en-US" sz="900" dirty="0"/>
          </a:p>
        </p:txBody>
      </p:sp>
      <p:sp>
        <p:nvSpPr>
          <p:cNvPr id="11" name="Shape 7"/>
          <p:cNvSpPr/>
          <p:nvPr/>
        </p:nvSpPr>
        <p:spPr>
          <a:xfrm>
            <a:off x="6035040" y="4251960"/>
            <a:ext cx="2651760" cy="777240"/>
          </a:xfrm>
          <a:prstGeom prst="roundRect">
            <a:avLst>
              <a:gd name="adj" fmla="val 7059"/>
            </a:avLst>
          </a:prstGeom>
          <a:solidFill>
            <a:srgbClr val="F7F8FA"/>
          </a:solidFill>
          <a:ln w="12700">
            <a:solidFill>
              <a:srgbClr val="E2E5F0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6035040" y="4345229"/>
            <a:ext cx="265176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15.52%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6108192" y="4733849"/>
            <a:ext cx="2505456" cy="2720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Equity (CAPM)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8869680" y="4251960"/>
            <a:ext cx="2651760" cy="777240"/>
          </a:xfrm>
          <a:prstGeom prst="roundRect">
            <a:avLst>
              <a:gd name="adj" fmla="val 7059"/>
            </a:avLst>
          </a:prstGeom>
          <a:solidFill>
            <a:srgbClr val="F7F8FA"/>
          </a:solidFill>
          <a:ln w="12700">
            <a:solidFill>
              <a:srgbClr val="E2E5F0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869680" y="4345229"/>
            <a:ext cx="2651760" cy="3886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11.78%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8942832" y="4733849"/>
            <a:ext cx="2505456" cy="2720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WACC</a:t>
            </a:r>
            <a:endParaRPr lang="en-US" sz="900" dirty="0"/>
          </a:p>
        </p:txBody>
      </p:sp>
      <p:sp>
        <p:nvSpPr>
          <p:cNvPr id="17" name="Shape 13"/>
          <p:cNvSpPr/>
          <p:nvPr/>
        </p:nvSpPr>
        <p:spPr>
          <a:xfrm>
            <a:off x="365760" y="5257800"/>
            <a:ext cx="11155680" cy="548640"/>
          </a:xfrm>
          <a:prstGeom prst="roundRect">
            <a:avLst>
              <a:gd name="adj" fmla="val 10000"/>
            </a:avLst>
          </a:prstGeom>
          <a:solidFill>
            <a:srgbClr val="F7F8FA"/>
          </a:solidFill>
          <a:ln w="12700">
            <a:solidFill>
              <a:srgbClr val="E2E5F0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731520" y="530352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 </a:t>
            </a: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independent VaR methods (Historical, Parametric, Monte Carlo) converge on a consistent downside-risk range — cross-validation, not reliance on one model.</a:t>
            </a:r>
            <a:endParaRPr lang="en-US" sz="1150" dirty="0"/>
          </a:p>
        </p:txBody>
      </p:sp>
      <p:sp>
        <p:nvSpPr>
          <p:cNvPr id="19" name="Text 15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Power Ltd. — Management Presentation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  <p:pic>
        <p:nvPicPr>
          <p:cNvPr id="22" name="Picture 21">
            <a:extLst>
              <a:ext uri="{FF2B5EF4-FFF2-40B4-BE49-F238E27FC236}">
                <a16:creationId xmlns:a16="http://schemas.microsoft.com/office/drawing/2014/main" id="{DFA08EB6-012A-CADE-544F-9CCD0F7457E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1051560"/>
            <a:ext cx="5322659" cy="299648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1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Risk Analysis II — Credit Risk (Utility Scorecard &amp; Altman Z)</a:t>
            </a:r>
            <a:endParaRPr lang="en-US" sz="2100" dirty="0"/>
          </a:p>
        </p:txBody>
      </p:sp>
      <p:pic>
        <p:nvPicPr>
          <p:cNvPr id="3" name="Image 0" descr="/home/claude/charts/credit_scorecard_tren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05840"/>
            <a:ext cx="6949440" cy="3817325"/>
          </a:xfrm>
          <a:prstGeom prst="rect">
            <a:avLst/>
          </a:prstGeom>
        </p:spPr>
      </p:pic>
      <p:pic>
        <p:nvPicPr>
          <p:cNvPr id="4" name="Image 1" descr="/home/claude/charts/credit_gau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85591" y="1005840"/>
            <a:ext cx="5103628" cy="3200400"/>
          </a:xfrm>
          <a:prstGeom prst="rect">
            <a:avLst/>
          </a:prstGeom>
        </p:spPr>
      </p:pic>
      <p:sp>
        <p:nvSpPr>
          <p:cNvPr id="5" name="Shape 1"/>
          <p:cNvSpPr/>
          <p:nvPr/>
        </p:nvSpPr>
        <p:spPr>
          <a:xfrm>
            <a:off x="7452360" y="3794760"/>
            <a:ext cx="4343400" cy="1051560"/>
          </a:xfrm>
          <a:prstGeom prst="roundRect">
            <a:avLst>
              <a:gd name="adj" fmla="val 5217"/>
            </a:avLst>
          </a:prstGeom>
          <a:solidFill>
            <a:srgbClr val="F7F8FA"/>
          </a:solidFill>
          <a:ln w="12700">
            <a:solidFill>
              <a:srgbClr val="E2E5F0"/>
            </a:solidFill>
            <a:prstDash val="solid"/>
          </a:ln>
        </p:spPr>
      </p:sp>
      <p:sp>
        <p:nvSpPr>
          <p:cNvPr id="6" name="Text 2"/>
          <p:cNvSpPr/>
          <p:nvPr/>
        </p:nvSpPr>
        <p:spPr>
          <a:xfrm>
            <a:off x="7607808" y="3858768"/>
            <a:ext cx="4023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8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Altman Z-Score (FY26): 1.55 — “Distress” zone. A known model-fit issue for capital-intensive regulated utilities, not a genuine credit signal.</a:t>
            </a:r>
            <a:endParaRPr lang="en-US" sz="980" dirty="0"/>
          </a:p>
        </p:txBody>
      </p:sp>
      <p:sp>
        <p:nvSpPr>
          <p:cNvPr id="7" name="Shape 3"/>
          <p:cNvSpPr/>
          <p:nvPr/>
        </p:nvSpPr>
        <p:spPr>
          <a:xfrm>
            <a:off x="548640" y="5074920"/>
            <a:ext cx="11091672" cy="548640"/>
          </a:xfrm>
          <a:prstGeom prst="roundRect">
            <a:avLst>
              <a:gd name="adj" fmla="val 10000"/>
            </a:avLst>
          </a:prstGeom>
          <a:solidFill>
            <a:srgbClr val="F7F8FA"/>
          </a:solidFill>
          <a:ln w="12700">
            <a:solidFill>
              <a:srgbClr val="E2E5F0"/>
            </a:solidFill>
            <a:prstDash val="solid"/>
          </a:ln>
        </p:spPr>
      </p:sp>
      <p:sp>
        <p:nvSpPr>
          <p:cNvPr id="8" name="Text 4"/>
          <p:cNvSpPr/>
          <p:nvPr/>
        </p:nvSpPr>
        <p:spPr>
          <a:xfrm>
            <a:off x="731520" y="5120640"/>
            <a:ext cx="107259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Insight:  </a:t>
            </a:r>
            <a:r>
              <a:rPr lang="en-US" sz="11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quantitative models flag risk the actual AA+ rating doesn't show — both exclude qualitative factors (regulatory strength, Tata Group support) the models can't easily score.</a:t>
            </a:r>
            <a:endParaRPr lang="en-US" sz="1150" dirty="0"/>
          </a:p>
        </p:txBody>
      </p:sp>
      <p:sp>
        <p:nvSpPr>
          <p:cNvPr id="9" name="Text 5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Power Ltd. — Management Presentation</a:t>
            </a:r>
            <a:endParaRPr lang="en-US" sz="900" dirty="0"/>
          </a:p>
        </p:txBody>
      </p:sp>
      <p:sp>
        <p:nvSpPr>
          <p:cNvPr id="10" name="Text 6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Findings</a:t>
            </a:r>
            <a:endParaRPr lang="en-US" sz="2500" dirty="0"/>
          </a:p>
        </p:txBody>
      </p:sp>
      <p:sp>
        <p:nvSpPr>
          <p:cNvPr id="3" name="Shape 1"/>
          <p:cNvSpPr/>
          <p:nvPr/>
        </p:nvSpPr>
        <p:spPr>
          <a:xfrm>
            <a:off x="548640" y="1280160"/>
            <a:ext cx="502920" cy="502920"/>
          </a:xfrm>
          <a:prstGeom prst="roundRect">
            <a:avLst>
              <a:gd name="adj" fmla="val 12727"/>
            </a:avLst>
          </a:prstGeom>
          <a:solidFill>
            <a:srgbClr val="1E2761"/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128016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1234440" y="1261872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DCF intrinsic value (₹19.17/share) sits ~95% below market price (₹402.35), driven primarily by an aggressive reinvestment-rate assumption and the exclusion of TPREL's standalone growth-option value from this consolidated model.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48640" y="2221992"/>
            <a:ext cx="502920" cy="502920"/>
          </a:xfrm>
          <a:prstGeom prst="roundRect">
            <a:avLst>
              <a:gd name="adj" fmla="val 12727"/>
            </a:avLst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2221992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234440" y="2203704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 Utility Credit Quality Scorecard classifies Tata Power as “High Risk” in 7 of 10 years, while the actual CRISIL rating rose steadily from AA- to AA+ with zero downgrades — a finding about model scope, not a contradiction.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163824"/>
            <a:ext cx="502920" cy="502920"/>
          </a:xfrm>
          <a:prstGeom prst="roundRect">
            <a:avLst>
              <a:gd name="adj" fmla="val 12727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" y="3163824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234440" y="3145536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Peer relative valuation (EV/EBITDA 10.55x) places Tata Power in line with mature integrated utilities, well below early-stage renewable pure-plays whose multiples reflect near-zero current earnings.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4105656"/>
            <a:ext cx="502920" cy="502920"/>
          </a:xfrm>
          <a:prstGeom prst="roundRect">
            <a:avLst>
              <a:gd name="adj" fmla="val 12727"/>
            </a:avLst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4105656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234440" y="4087368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independent VaR methodologies (Historical, Parametric, Monte Carlo) converge on a consistent downside-risk range for the portfolio position, cross-validating rather than relying on a single model.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5047488"/>
            <a:ext cx="502920" cy="502920"/>
          </a:xfrm>
          <a:prstGeom prst="roundRect">
            <a:avLst>
              <a:gd name="adj" fmla="val 12727"/>
            </a:avLst>
          </a:prstGeom>
          <a:solidFill>
            <a:srgbClr val="1E2761"/>
          </a:solidFill>
          <a:ln/>
        </p:spPr>
      </p:sp>
      <p:sp>
        <p:nvSpPr>
          <p:cNvPr id="16" name="Text 14"/>
          <p:cNvSpPr/>
          <p:nvPr/>
        </p:nvSpPr>
        <p:spPr>
          <a:xfrm>
            <a:off x="548640" y="5047488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234440" y="5029200"/>
            <a:ext cx="1042416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standard Altman Z-Score misclassifies Tata Power as financially distressed in most years — a known model-fit issue for capital-intensive regulated utilities, not a genuine credit signal.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Power Ltd. — Management Presentation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91672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2500" b="1" dirty="0">
                <a:solidFill>
                  <a:srgbClr val="1E276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View, Key Risks &amp; Future Outlook</a:t>
            </a:r>
            <a:endParaRPr lang="en-US" sz="2500" dirty="0"/>
          </a:p>
        </p:txBody>
      </p:sp>
      <p:sp>
        <p:nvSpPr>
          <p:cNvPr id="3" name="Text 1"/>
          <p:cNvSpPr/>
          <p:nvPr/>
        </p:nvSpPr>
        <p:spPr>
          <a:xfrm>
            <a:off x="548640" y="11430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35661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buNone/>
            </a:pPr>
            <a:r>
              <a:rPr lang="en-US" sz="11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analysis intentionally stops short of a Buy/Hold/Sell call. The DCF and market/peer valuations diverge too sharply (₹19 vs. ₹402) to responsibly compress into a single recommendation without the sum-of-the-parts work needed to reconcile them.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434840" y="11430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Risks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434840" y="1463040"/>
            <a:ext cx="35661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 risk on the renewable capex buildout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Rising leverage (Net Debt/EBITDA 3.98x → 5.15x in FY26)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Regulatory/tariff recovery lag in distribution business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DCF-market valuation gap remains unreconciled without SOTP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8321040" y="1143000"/>
            <a:ext cx="3337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Outlook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8321040" y="1463040"/>
            <a:ext cx="333756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Sum-of-the-parts valuation to separately value TPREL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FY27 leverage — is the FY26 spike temporary?</a:t>
            </a:r>
            <a:endParaRPr lang="en-US" sz="10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next CRISIL/ICRA rating action for capex-funded-leverage read-through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548640" y="3429000"/>
            <a:ext cx="11091672" cy="2560320"/>
          </a:xfrm>
          <a:prstGeom prst="roundRect">
            <a:avLst>
              <a:gd name="adj" fmla="val 2857"/>
            </a:avLst>
          </a:prstGeom>
          <a:solidFill>
            <a:srgbClr val="1E2761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611880"/>
            <a:ext cx="10515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Bottom Line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4023360"/>
            <a:ext cx="10515600" cy="1828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ts val="18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Power holds a genuinely strong, improving credit profile (CRISIL AA+, zero downgrades in 10 years) executing a capital-intensive but strategically coherent renewable transition. Every quantitative model built here — DCF, Altman Z, the custom credit scorecard — runs more conservative than what the market and rating agencies conclude, and in each case a specific, named reason for the gap has been identified.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48640" y="626364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5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Educational portfolio project — not investment advice.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457200" y="6492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Tata Power Ltd. — Management Presentation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274552" y="6492240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1823</Words>
  <Application>Microsoft Office PowerPoint</Application>
  <PresentationFormat>Widescreen</PresentationFormat>
  <Paragraphs>156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Cambria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MONOJIT SAMANTA</cp:lastModifiedBy>
  <cp:revision>2</cp:revision>
  <dcterms:created xsi:type="dcterms:W3CDTF">2026-07-23T21:10:11Z</dcterms:created>
  <dcterms:modified xsi:type="dcterms:W3CDTF">2026-08-15T22:55:06Z</dcterms:modified>
</cp:coreProperties>
</file>